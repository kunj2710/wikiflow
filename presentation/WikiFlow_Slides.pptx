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Model AUC comparison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4F8FE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LogReg</c:v>
                  </c:pt>
                  <c:pt idx="1">
                    <c:v>Elephas DNN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0.78</c:v>
                </c:pt>
                <c:pt idx="1">
                  <c:v>0.81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time (min)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 workers</c:v>
                  </c:pt>
                  <c:pt idx="1">
                    <c:v>4 workers</c:v>
                  </c:pt>
                  <c:pt idx="2">
                    <c:v>6 workers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</c:v>
                </c:pt>
                <c:pt idx="1">
                  <c:v>22</c:v>
                </c:pt>
                <c:pt idx="2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WikiFlow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Wikipedia Editor Dropout at Scale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Meena  |  Kunj Manish Kumar Patel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577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CS 777  |  Big Data Analytics  |  Boston University  |  Spring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is losing editors and nobody knows who will quit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editors on English Wikipedia have been declining since 2007. The Wikimedia Foundation funds research on contributor retention because the platform runs on volunteer labor.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brand new editor's first 10 edits, can we predict whether they will still be editing six months later?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955280" y="1554480"/>
            <a:ext cx="3840480" cy="4114800"/>
          </a:xfrm>
          <a:prstGeom prst="roundRect">
            <a:avLst>
              <a:gd name="adj" fmla="val 3571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201168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60M+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7955280" y="3566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events analyzed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55280" y="4114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GB compressed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55280" y="4572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 of English Wikipedia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WikiFlow  |  MET CS 777  |  Spring 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Wikimedia MediaWiki history dumps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dumps.wikimedia.org/other/mediawiki_history/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Wikipedia, January 2021 to December 2025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monthly TSV.bz2 files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02336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pre-computed columns, no JSON parsing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flag, revert flag, namespace built 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in the course public dataset list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CC0, no auth, no rate limits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5303520" cy="594360"/>
          </a:xfrm>
          <a:prstGeom prst="roundRect">
            <a:avLst>
              <a:gd name="adj" fmla="val 12308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55448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dumps.wikimedia.org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2331720"/>
            <a:ext cx="530352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233172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Transfer Service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3108960"/>
            <a:ext cx="530352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10896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bucket: raw/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3886200"/>
            <a:ext cx="530352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388620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on Dataproc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4663440"/>
            <a:ext cx="530352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466344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+ features + models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5440680"/>
            <a:ext cx="5303520" cy="594360"/>
          </a:xfrm>
          <a:prstGeom prst="roundRect">
            <a:avLst>
              <a:gd name="adj" fmla="val 12308"/>
            </a:avLst>
          </a:prstGeom>
          <a:solidFill>
            <a:srgbClr val="4F8FE0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544068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dashboard + BigQuery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WikiFlow  |  MET CS 777  |  Spring 2026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GCP, GUI driven, no laptop bandwidth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6459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Storage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inputs and outputs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56432" y="146304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CADCFC"/>
          </a:solidFill>
          <a:ln/>
        </p:spPr>
      </p:sp>
      <p:sp>
        <p:nvSpPr>
          <p:cNvPr id="12" name="Shape 10"/>
          <p:cNvSpPr/>
          <p:nvPr/>
        </p:nvSpPr>
        <p:spPr>
          <a:xfrm>
            <a:off x="3685032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685032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25112" y="16459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85032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Transfer Service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85032" y="27889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pull from URL list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64224" y="146304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CADC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592824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592824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32904" y="16459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92824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Dataproc 1+4 n2-standard-4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92824" y="27889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Spark, GCS connector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272016" y="146304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CADCFC"/>
          </a:solidFill>
          <a:ln/>
        </p:spPr>
      </p:sp>
      <p:sp>
        <p:nvSpPr>
          <p:cNvPr id="24" name="Shape 22"/>
          <p:cNvSpPr/>
          <p:nvPr/>
        </p:nvSpPr>
        <p:spPr>
          <a:xfrm>
            <a:off x="9500616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9500616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140696" y="16459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500616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DataFrames + RDDs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500616" y="27889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+ feature engineering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822192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CADCFC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" y="40507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050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417320" y="400507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47365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logreg + RDD K-Means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77240" y="514807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scratch, no MLlib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56432" y="3822192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CADCFC"/>
          </a:solidFill>
          <a:ln/>
        </p:spPr>
      </p:sp>
      <p:sp>
        <p:nvSpPr>
          <p:cNvPr id="36" name="Shape 34"/>
          <p:cNvSpPr/>
          <p:nvPr/>
        </p:nvSpPr>
        <p:spPr>
          <a:xfrm>
            <a:off x="3685032" y="40507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3685032" y="4050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4325112" y="400507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685032" y="47365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Elephas + Keras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685032" y="514807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across Spark workers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64224" y="3822192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CADCFC"/>
          </a:solidFill>
          <a:ln/>
        </p:spPr>
      </p:sp>
      <p:sp>
        <p:nvSpPr>
          <p:cNvPr id="42" name="Shape 40"/>
          <p:cNvSpPr/>
          <p:nvPr/>
        </p:nvSpPr>
        <p:spPr>
          <a:xfrm>
            <a:off x="6592824" y="40507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6592824" y="4050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232904" y="400507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592824" y="47365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Spark Structured Streaming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592824" y="514807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scoring of EventStreams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272016" y="3822192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CADCFC"/>
          </a:solidFill>
          <a:ln/>
        </p:spPr>
      </p:sp>
      <p:sp>
        <p:nvSpPr>
          <p:cNvPr id="48" name="Shape 46"/>
          <p:cNvSpPr/>
          <p:nvPr/>
        </p:nvSpPr>
        <p:spPr>
          <a:xfrm>
            <a:off x="9500616" y="40507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9" name="Text 47"/>
          <p:cNvSpPr/>
          <p:nvPr/>
        </p:nvSpPr>
        <p:spPr>
          <a:xfrm>
            <a:off x="9500616" y="4050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0140696" y="400507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500616" y="47365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+ Plotly on GCS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9500616" y="514807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shareable dashboard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WikiFlow  |  MET CS 777  |  Spring 2026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scripts, one bucket, one cluster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1691640" cy="128016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Clean + partition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rot="5400000">
            <a:off x="2148840" y="2331720"/>
            <a:ext cx="137160" cy="274320"/>
          </a:xfrm>
          <a:prstGeom prst="rightTriangle">
            <a:avLst/>
          </a:prstGeom>
          <a:solidFill>
            <a:srgbClr val="4F8FE0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828800"/>
            <a:ext cx="1691640" cy="128016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182880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Build features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rot="5400000">
            <a:off x="3977640" y="2331720"/>
            <a:ext cx="137160" cy="274320"/>
          </a:xfrm>
          <a:prstGeom prst="rightTriangle">
            <a:avLst/>
          </a:prstGeom>
          <a:solidFill>
            <a:srgbClr val="4F8FE0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0" y="1828800"/>
            <a:ext cx="1691640" cy="128016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182880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Custom LogReg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rot="5400000">
            <a:off x="5806440" y="2331720"/>
            <a:ext cx="137160" cy="274320"/>
          </a:xfrm>
          <a:prstGeom prst="rightTriangle">
            <a:avLst/>
          </a:prstGeom>
          <a:solidFill>
            <a:srgbClr val="4F8FE0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0" y="1828800"/>
            <a:ext cx="1691640" cy="128016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182880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Custom K-Means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rot="5400000">
            <a:off x="7635240" y="2331720"/>
            <a:ext cx="137160" cy="274320"/>
          </a:xfrm>
          <a:prstGeom prst="rightTriangle">
            <a:avLst/>
          </a:prstGeom>
          <a:solidFill>
            <a:srgbClr val="4F8FE0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0" y="1828800"/>
            <a:ext cx="1691640" cy="128016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182880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Elephas DNN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rot="5400000">
            <a:off x="9464040" y="2331720"/>
            <a:ext cx="137160" cy="274320"/>
          </a:xfrm>
          <a:prstGeom prst="rightTriangle">
            <a:avLst/>
          </a:prstGeom>
          <a:solidFill>
            <a:srgbClr val="4F8FE0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1200" y="1828800"/>
            <a:ext cx="1691640" cy="128016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0" y="182880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Eval + dashboard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2976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Kafka producer  (laptop)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97480" y="429768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2697480" y="42976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Wikimedia EventStreams (SSE)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429768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42976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Cloud Kafka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78040" y="429768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/>
        </p:spPr>
      </p:sp>
      <p:sp>
        <p:nvSpPr>
          <p:cNvPr id="30" name="Text 28"/>
          <p:cNvSpPr/>
          <p:nvPr/>
        </p:nvSpPr>
        <p:spPr>
          <a:xfrm>
            <a:off x="7178040" y="42976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Spark Structured Streaming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418320" y="429768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/>
        </p:spPr>
      </p:sp>
      <p:sp>
        <p:nvSpPr>
          <p:cNvPr id="32" name="Text 30"/>
          <p:cNvSpPr/>
          <p:nvPr/>
        </p:nvSpPr>
        <p:spPr>
          <a:xfrm>
            <a:off x="9418320" y="42976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per edit -&gt; GCS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paths use GCS as the source of truth. Every job reads gs:// in and writes gs:// out.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WikiFlow  |  MET CS 777  |  Spring 2026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per Editor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 edits become a 13-dimensional vector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5029200" cy="384048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46304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(edits/day)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56816"/>
            <a:ext cx="5029200" cy="384048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56816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956816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revert_rate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450592"/>
            <a:ext cx="5029200" cy="384048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5059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45059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namespace_diversity (entropy)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944368"/>
            <a:ext cx="5029200" cy="384048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4436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944368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avg_bytes_added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438144"/>
            <a:ext cx="5029200" cy="384048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3814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438144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avg_bytes_removed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5029200" cy="384048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319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93192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talk_page_ratio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425696"/>
            <a:ext cx="5029200" cy="384048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425696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4425696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peak_hour_sin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0" y="1463040"/>
            <a:ext cx="5029200" cy="384048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146304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46520" y="146304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peak_hour_cos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43600" y="1956816"/>
            <a:ext cx="5029200" cy="384048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/>
        </p:spPr>
      </p:sp>
      <p:sp>
        <p:nvSpPr>
          <p:cNvPr id="30" name="Text 28"/>
          <p:cNvSpPr/>
          <p:nvPr/>
        </p:nvSpPr>
        <p:spPr>
          <a:xfrm>
            <a:off x="6035040" y="1956816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46520" y="1956816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weekend_ratio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943600" y="2450592"/>
            <a:ext cx="5029200" cy="384048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0" y="245059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46520" y="245059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edit_summary_rate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943600" y="2944368"/>
            <a:ext cx="5029200" cy="384048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/>
        </p:spPr>
      </p:sp>
      <p:sp>
        <p:nvSpPr>
          <p:cNvPr id="36" name="Text 34"/>
          <p:cNvSpPr/>
          <p:nvPr/>
        </p:nvSpPr>
        <p:spPr>
          <a:xfrm>
            <a:off x="6035040" y="294436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46520" y="2944368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minor_edit_ratio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943600" y="3438144"/>
            <a:ext cx="5029200" cy="384048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/>
        </p:spPr>
      </p:sp>
      <p:sp>
        <p:nvSpPr>
          <p:cNvPr id="39" name="Text 37"/>
          <p:cNvSpPr/>
          <p:nvPr/>
        </p:nvSpPr>
        <p:spPr>
          <a:xfrm>
            <a:off x="6035040" y="343814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46520" y="3438144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session_count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943600" y="3931920"/>
            <a:ext cx="5029200" cy="384048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/>
        </p:spPr>
      </p:sp>
      <p:sp>
        <p:nvSpPr>
          <p:cNvPr id="42" name="Text 40"/>
          <p:cNvSpPr/>
          <p:nvPr/>
        </p:nvSpPr>
        <p:spPr>
          <a:xfrm>
            <a:off x="6035040" y="39319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446520" y="393192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first_edit_size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8640" y="5212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= 1 if zero edits in the 180 days after the window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are Spark window functions partitioned by editor.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WikiFlow  |  MET CS 777  |  Spring 2026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Logistic Regression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RDDs. No MLlib.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loop (mini-batch SGD on RDDs):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6858000" cy="4114800"/>
          </a:xfrm>
          <a:prstGeom prst="rect">
            <a:avLst/>
          </a:prstGeom>
          <a:solidFill>
            <a:srgbClr val="F3F5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= train.sample(False, frac, seed=epoch)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bc_w   = sc.broadcast(w)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per_partition(it):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 = list(it)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g_w = [0.0] * d; g_b = 0.0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label, x in batch: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z = b + sum(wi * xi for wi, xi in zip(bc_w.value, x))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err = sigmoid(z) - label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 in range(d): g_w[i] += err * x[i]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g_b += err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iter([(g_w, g_b, len(batch))])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g_w, g_b, n = sample.mapPartitions(per_partition)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.treeAggregate(zero, combine, combine, depth=2)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[wi - lr * gi / n for wi, gi in zip(w, g_w)]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b - lr * g_b / 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0" y="1920240"/>
            <a:ext cx="4023360" cy="4114800"/>
          </a:xfrm>
          <a:prstGeom prst="roundRect">
            <a:avLst>
              <a:gd name="adj" fmla="val 272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0" y="265176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treeAggregate sums gradients in O(log N) hops.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keeps weight transfers O(d), not O(N*d).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training RDD avoids re-reading 60M rows from GCS each epoch.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submits to a 4-worker or 8-worker cluster with no change.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WikiFlow  |  MET CS 777  |  Spring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+ Elephas DNN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more models, also distributed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5486400" cy="4572000"/>
          </a:xfrm>
          <a:prstGeom prst="roundRect">
            <a:avLst>
              <a:gd name="adj" fmla="val 2400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on RDDs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 loop, broadcast centroids, reduceByKey aggregation.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4 archetypes: power, casual, frustrated, bot-like.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on centroid shift &lt; 1e-4 or WCSS plateau.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silhouette on a 50K-row sample (full silhouette is O(n^2)).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486400" cy="4572000"/>
          </a:xfrm>
          <a:prstGeom prst="roundRect">
            <a:avLst>
              <a:gd name="adj" fmla="val 24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600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Elephas Distributed DNN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46520" y="21945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Sequential 13 -&gt; 64 -&gt; 32 -&gt; 1, ReLU + sigmoid.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in elephas.SparkModel, async training across workers.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worker trains on its local partition.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aggregates weight updates every epoch.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saved to /tmp/wikiflow_dnn.h5, copied to GCS via Hadoop FS.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WikiFlow  |  MET CS 777  |  Spring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EventStreams to Kafka to Spark to GCS in under a minute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82880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1031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EventStreams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feed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rot="5400000">
            <a:off x="2606040" y="2898648"/>
            <a:ext cx="118872" cy="237744"/>
          </a:xfrm>
          <a:prstGeom prst="rightTriangle">
            <a:avLst/>
          </a:prstGeom>
          <a:solidFill>
            <a:srgbClr val="4F8FE0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182880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21031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07_kafka_producer.py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80360" y="29260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laptop, Python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+ serialize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rot="5400000">
            <a:off x="4937760" y="2898648"/>
            <a:ext cx="118872" cy="237744"/>
          </a:xfrm>
          <a:prstGeom prst="rightTriangle">
            <a:avLst/>
          </a:prstGeom>
          <a:solidFill>
            <a:srgbClr val="4F8FE0"/>
          </a:solidFill>
          <a:ln/>
        </p:spPr>
      </p:sp>
      <p:sp>
        <p:nvSpPr>
          <p:cNvPr id="13" name="Shape 11"/>
          <p:cNvSpPr/>
          <p:nvPr/>
        </p:nvSpPr>
        <p:spPr>
          <a:xfrm>
            <a:off x="5074920" y="182880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21031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Kafka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29260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wiki-edits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partitions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5400000">
            <a:off x="7269480" y="2898648"/>
            <a:ext cx="118872" cy="237744"/>
          </a:xfrm>
          <a:prstGeom prst="rightTriangle">
            <a:avLst/>
          </a:prstGeom>
          <a:solidFill>
            <a:srgbClr val="4F8FE0"/>
          </a:solidFill>
          <a:ln/>
        </p:spPr>
      </p:sp>
      <p:sp>
        <p:nvSpPr>
          <p:cNvPr id="17" name="Shape 15"/>
          <p:cNvSpPr/>
          <p:nvPr/>
        </p:nvSpPr>
        <p:spPr>
          <a:xfrm>
            <a:off x="7406640" y="182880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21031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06_kafka_streaming.py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43800" y="29260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on Dataproc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rot="5400000">
            <a:off x="9601200" y="2898648"/>
            <a:ext cx="118872" cy="237744"/>
          </a:xfrm>
          <a:prstGeom prst="rightTriangle">
            <a:avLst/>
          </a:prstGeom>
          <a:solidFill>
            <a:srgbClr val="4F8FE0"/>
          </a:solidFill>
          <a:ln/>
        </p:spPr>
      </p:sp>
      <p:sp>
        <p:nvSpPr>
          <p:cNvPr id="21" name="Shape 19"/>
          <p:cNvSpPr/>
          <p:nvPr/>
        </p:nvSpPr>
        <p:spPr>
          <a:xfrm>
            <a:off x="9738360" y="182880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9738360" y="21031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875520" y="29260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streaming_predictions/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risk per edit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interval: 60 seconds   |   End-to-end latency: under 1 minute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WikiFlow  |  MET CS 777  |  Spring 2026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we set, numbers we hit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57600" cy="237744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916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AUC-ROC, custom RDD logistic regression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1554480"/>
            <a:ext cx="3657600" cy="237744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361688" y="16916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4544568" y="30175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AUC-ROC, Elephas distributed DNN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66176" y="1554480"/>
            <a:ext cx="3657600" cy="237744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266176" y="16916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8449056" y="30175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score, K-Means k=4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40080" y="4206240"/>
          <a:ext cx="53035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6400800" y="4206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archetypes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00800" y="457200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 Power editor: high velocity, low revert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 Casual contributor: low velocity, narrow 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 Frustrated newcomer: low velocity, high revert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 Bot-like: very high velocity, fixed peak hour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shown are illustrative target values. Final report uses actual run output.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WikiFlow  |  MET CS 777  |  Spring 2026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and Cost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it really is distributed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training time vs cluster size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858000" y="1828800"/>
            <a:ext cx="4937760" cy="4114800"/>
          </a:xfrm>
          <a:prstGeom prst="roundRect">
            <a:avLst>
              <a:gd name="adj" fmla="val 2667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0" y="1965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040880" y="242316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Dataproc 1+4 n2-standard-4: ~$0.80 / hour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Transfer: free under 1 TB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Standard, us-central1: $0.020 / GB / month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BigQuery: $5 per TB scanned, our table is &lt; 1 MB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Cloud Basic: free trial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 budget: ~$15-25 of $300 GCP free credit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WikiFlow  |  MET CS 777  |  Spring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17830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revision events processed end to 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589520" y="17830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GCP console workflow, no gcloud commands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103120" y="30632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MLlib calls for the from-scratch logreg and K-Means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29260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589520" y="30632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Keras training over Spark via Elephas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20624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103120" y="43434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 for live Kafka scoring demo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420624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589520" y="43434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queryable from BigQuery, dashboard on GCS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58521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Repo: github.com/&lt;team&gt;/wikiflow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6263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WikiFlow</dc:title>
  <dc:subject>PptxGenJS Presentation</dc:subject>
  <dc:creator>Aryan Meena and Kunj Manish Kumar Patel</dc:creator>
  <cp:lastModifiedBy>Aryan Meena and Kunj Manish Kumar Patel</cp:lastModifiedBy>
  <cp:revision>1</cp:revision>
  <dcterms:created xsi:type="dcterms:W3CDTF">2026-04-26T21:24:04Z</dcterms:created>
  <dcterms:modified xsi:type="dcterms:W3CDTF">2026-04-26T21:24:04Z</dcterms:modified>
</cp:coreProperties>
</file>